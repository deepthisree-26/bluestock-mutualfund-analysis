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D50DB-5CA0-51E8-D35F-24F423C89D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B33189-8FC3-281E-68C8-F01B14D506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C16096-EB29-0D4E-ABB0-BA9287B6B739}"/>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5" name="Footer Placeholder 4">
            <a:extLst>
              <a:ext uri="{FF2B5EF4-FFF2-40B4-BE49-F238E27FC236}">
                <a16:creationId xmlns:a16="http://schemas.microsoft.com/office/drawing/2014/main" id="{EF043122-41BA-890E-6A4E-C3A1781641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C5CD93-005A-2839-5AFA-A94B97A8ECEB}"/>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2598266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6C64-0C6F-5591-F464-A6FDA34F36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5D8B65-7EBC-B9FA-F872-7C1A5FA51E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809602-D135-94BD-9983-D0D1F87FC7F7}"/>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5" name="Footer Placeholder 4">
            <a:extLst>
              <a:ext uri="{FF2B5EF4-FFF2-40B4-BE49-F238E27FC236}">
                <a16:creationId xmlns:a16="http://schemas.microsoft.com/office/drawing/2014/main" id="{B91C75E6-9B6E-44AF-251A-86C6C525E2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E372E8-75E1-522F-ED3B-3CB22D41FBDC}"/>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1240558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37CD-4042-343A-5A19-1FF28B6C6F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C1A88C-6D78-883D-0A37-D7A46AE894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D6D35A-6828-B24B-2FBA-50CA3477B6BB}"/>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5" name="Footer Placeholder 4">
            <a:extLst>
              <a:ext uri="{FF2B5EF4-FFF2-40B4-BE49-F238E27FC236}">
                <a16:creationId xmlns:a16="http://schemas.microsoft.com/office/drawing/2014/main" id="{5A3BED61-F7E1-9414-52CB-F3AEA808B9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8A6A70-C13B-49BB-DE43-DA27FA4260D7}"/>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3631647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1E211-C2CF-EF4C-07CA-DF3599326B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701920-DAB0-0459-F163-DF91D5594D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05BB76-AB49-061E-A160-4719EF49FE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BA6764-7D84-ED67-5C7C-C29C75535B3A}"/>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6" name="Footer Placeholder 5">
            <a:extLst>
              <a:ext uri="{FF2B5EF4-FFF2-40B4-BE49-F238E27FC236}">
                <a16:creationId xmlns:a16="http://schemas.microsoft.com/office/drawing/2014/main" id="{4FEA3BC1-FFC9-4301-9B0E-4F4EF5FFF9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8D9913-C192-25AD-F9CD-16685F4CC51B}"/>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313097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5C1CA-014A-EEEF-803D-6032AF13693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03286E-895A-B519-426B-1E630795FA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A37F23-16EC-4748-EE6B-19CB18C590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117727-1841-0C5F-275C-E4E360F1B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09BA44-07C6-71BC-767D-1360B81D9D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F0988B-071F-6492-1685-2352E783D2D0}"/>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8" name="Footer Placeholder 7">
            <a:extLst>
              <a:ext uri="{FF2B5EF4-FFF2-40B4-BE49-F238E27FC236}">
                <a16:creationId xmlns:a16="http://schemas.microsoft.com/office/drawing/2014/main" id="{4CC96F95-6CA6-02EB-427C-FD7025A523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F07718-6DC9-95C9-AAC0-2F9B986B9AF0}"/>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250779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0CC2-4CFB-47EE-D0BC-7254A895C2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2A7816-91AA-4B84-B143-0FECD6124646}"/>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4" name="Footer Placeholder 3">
            <a:extLst>
              <a:ext uri="{FF2B5EF4-FFF2-40B4-BE49-F238E27FC236}">
                <a16:creationId xmlns:a16="http://schemas.microsoft.com/office/drawing/2014/main" id="{867D08F6-9767-61D5-C1F2-8ED61E83E1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7E4B7A-5C0A-EEBF-AB19-72D065E2F3AE}"/>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845929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21888E-10A3-99F2-8FEB-302A2A4DC26C}"/>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3" name="Footer Placeholder 2">
            <a:extLst>
              <a:ext uri="{FF2B5EF4-FFF2-40B4-BE49-F238E27FC236}">
                <a16:creationId xmlns:a16="http://schemas.microsoft.com/office/drawing/2014/main" id="{9C0C3B8E-FE81-CA68-7DC8-AEF3491894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233B7A-5BBB-F2B5-1D86-327C434053A1}"/>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1455381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7D2C-5D07-6FC0-A9B1-17A5D4D2AF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509CF1-FAE3-FB7E-5DB3-C0B18E066C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B170E3-95B8-DE6C-12F0-41C6D0A3F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ADB6C-5464-74C9-BD8A-D66F6BFED969}"/>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6" name="Footer Placeholder 5">
            <a:extLst>
              <a:ext uri="{FF2B5EF4-FFF2-40B4-BE49-F238E27FC236}">
                <a16:creationId xmlns:a16="http://schemas.microsoft.com/office/drawing/2014/main" id="{E9A43D63-650B-C113-BA21-CD89A38BBD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EF0C6D-3F72-81C9-ECEF-90EE2290332C}"/>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2357927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2BCB-620C-392E-076E-8E4F01DA7D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C8C826D-89E0-F3AA-7A16-67621E377E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DBF806-96D6-5718-94C1-D57D3F9920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BB58F-D284-B57B-0FFE-74A6D3E404B0}"/>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6" name="Footer Placeholder 5">
            <a:extLst>
              <a:ext uri="{FF2B5EF4-FFF2-40B4-BE49-F238E27FC236}">
                <a16:creationId xmlns:a16="http://schemas.microsoft.com/office/drawing/2014/main" id="{A65EB3BB-B8B1-3803-CDD7-E89D3CCA49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8F1971-6143-CE6F-9A32-FDC82E6DFD6F}"/>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958228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3575A-E718-E042-3CD6-B81D70BE57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6430EA-CEFA-90EA-147F-71AF64776A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6D8FC2-3111-1BB6-E6F4-988A3D7DCB42}"/>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5" name="Footer Placeholder 4">
            <a:extLst>
              <a:ext uri="{FF2B5EF4-FFF2-40B4-BE49-F238E27FC236}">
                <a16:creationId xmlns:a16="http://schemas.microsoft.com/office/drawing/2014/main" id="{D39B9628-AC93-A92D-3C9A-C2EC02815A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32BD6C-F2EB-2039-0D9E-19BFFD78A833}"/>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1551641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91C9DD-7474-886A-12CF-47E4780C7A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094F2C-C56A-D904-E16E-9369D1B6EC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172B39-3195-1D14-6A6C-5D1D4B1E47DA}"/>
              </a:ext>
            </a:extLst>
          </p:cNvPr>
          <p:cNvSpPr>
            <a:spLocks noGrp="1"/>
          </p:cNvSpPr>
          <p:nvPr>
            <p:ph type="dt" sz="half" idx="10"/>
          </p:nvPr>
        </p:nvSpPr>
        <p:spPr/>
        <p:txBody>
          <a:bodyPr/>
          <a:lstStyle/>
          <a:p>
            <a:fld id="{5CCF4DEC-C7CC-49A0-88E5-1F7D35A0FC00}" type="datetimeFigureOut">
              <a:rPr lang="en-IN" smtClean="0"/>
              <a:t>13-06-2026</a:t>
            </a:fld>
            <a:endParaRPr lang="en-IN"/>
          </a:p>
        </p:txBody>
      </p:sp>
      <p:sp>
        <p:nvSpPr>
          <p:cNvPr id="5" name="Footer Placeholder 4">
            <a:extLst>
              <a:ext uri="{FF2B5EF4-FFF2-40B4-BE49-F238E27FC236}">
                <a16:creationId xmlns:a16="http://schemas.microsoft.com/office/drawing/2014/main" id="{5D63F376-98D9-B569-1489-302027CCE0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DD1610-3117-CF9E-64AF-1CD359DC991B}"/>
              </a:ext>
            </a:extLst>
          </p:cNvPr>
          <p:cNvSpPr>
            <a:spLocks noGrp="1"/>
          </p:cNvSpPr>
          <p:nvPr>
            <p:ph type="sldNum" sz="quarter" idx="12"/>
          </p:nvPr>
        </p:nvSpPr>
        <p:spPr/>
        <p:txBody>
          <a:bodyPr/>
          <a:lstStyle/>
          <a:p>
            <a:fld id="{616BEAA3-1A99-40F0-943F-0FF9718706D8}" type="slidenum">
              <a:rPr lang="en-IN" smtClean="0"/>
              <a:t>‹#›</a:t>
            </a:fld>
            <a:endParaRPr lang="en-IN"/>
          </a:p>
        </p:txBody>
      </p:sp>
    </p:spTree>
    <p:extLst>
      <p:ext uri="{BB962C8B-B14F-4D97-AF65-F5344CB8AC3E}">
        <p14:creationId xmlns:p14="http://schemas.microsoft.com/office/powerpoint/2010/main" val="81207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5F4CB7-948F-7623-0894-210EF12907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840C1F-7031-6307-FE79-467DE3B911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2E3F9C-C9C9-5417-7671-97563DDA2F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CF4DEC-C7CC-49A0-88E5-1F7D35A0FC00}" type="datetimeFigureOut">
              <a:rPr lang="en-IN" smtClean="0"/>
              <a:t>13-06-2026</a:t>
            </a:fld>
            <a:endParaRPr lang="en-IN"/>
          </a:p>
        </p:txBody>
      </p:sp>
      <p:sp>
        <p:nvSpPr>
          <p:cNvPr id="5" name="Footer Placeholder 4">
            <a:extLst>
              <a:ext uri="{FF2B5EF4-FFF2-40B4-BE49-F238E27FC236}">
                <a16:creationId xmlns:a16="http://schemas.microsoft.com/office/drawing/2014/main" id="{0BFFB942-391D-6465-8C57-8DBE0E2CC9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029453A-EBC2-A4F6-C2B5-EBAA090638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BEAA3-1A99-40F0-943F-0FF9718706D8}" type="slidenum">
              <a:rPr lang="en-IN" smtClean="0"/>
              <a:t>‹#›</a:t>
            </a:fld>
            <a:endParaRPr lang="en-IN"/>
          </a:p>
        </p:txBody>
      </p:sp>
    </p:spTree>
    <p:extLst>
      <p:ext uri="{BB962C8B-B14F-4D97-AF65-F5344CB8AC3E}">
        <p14:creationId xmlns:p14="http://schemas.microsoft.com/office/powerpoint/2010/main" val="3304514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557A95AA-B4C6-3081-DF13-ACED2AC9DE10}"/>
              </a:ext>
            </a:extLst>
          </p:cNvPr>
          <p:cNvPicPr>
            <a:picLocks noChangeAspect="1"/>
          </p:cNvPicPr>
          <p:nvPr/>
        </p:nvPicPr>
        <p:blipFill>
          <a:blip r:embed="rId2"/>
          <a:srcRect r="15627" b="-1"/>
          <a:stretch>
            <a:fillRect/>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508CED-5D31-300D-0378-9FA85925D365}"/>
              </a:ext>
            </a:extLst>
          </p:cNvPr>
          <p:cNvSpPr>
            <a:spLocks noGrp="1"/>
          </p:cNvSpPr>
          <p:nvPr>
            <p:ph type="ctrTitle"/>
          </p:nvPr>
        </p:nvSpPr>
        <p:spPr>
          <a:xfrm>
            <a:off x="477981" y="1122363"/>
            <a:ext cx="4023360" cy="3204134"/>
          </a:xfrm>
        </p:spPr>
        <p:txBody>
          <a:bodyPr anchor="b">
            <a:normAutofit/>
          </a:bodyPr>
          <a:lstStyle/>
          <a:p>
            <a:pPr algn="l"/>
            <a:r>
              <a:rPr lang="en-IN" sz="4400" dirty="0">
                <a:solidFill>
                  <a:schemeClr val="bg1"/>
                </a:solidFill>
              </a:rPr>
              <a:t>Bluestock Mutual Fund Analysis Capstone Project</a:t>
            </a:r>
          </a:p>
        </p:txBody>
      </p:sp>
      <p:sp>
        <p:nvSpPr>
          <p:cNvPr id="3" name="Subtitle 2">
            <a:extLst>
              <a:ext uri="{FF2B5EF4-FFF2-40B4-BE49-F238E27FC236}">
                <a16:creationId xmlns:a16="http://schemas.microsoft.com/office/drawing/2014/main" id="{1D195232-CACD-ABA8-43FE-57D415F9B412}"/>
              </a:ext>
            </a:extLst>
          </p:cNvPr>
          <p:cNvSpPr>
            <a:spLocks noGrp="1"/>
          </p:cNvSpPr>
          <p:nvPr>
            <p:ph type="subTitle" idx="1"/>
          </p:nvPr>
        </p:nvSpPr>
        <p:spPr>
          <a:xfrm>
            <a:off x="477980" y="4565208"/>
            <a:ext cx="4023359" cy="1515855"/>
          </a:xfrm>
        </p:spPr>
        <p:txBody>
          <a:bodyPr>
            <a:normAutofit/>
          </a:bodyPr>
          <a:lstStyle/>
          <a:p>
            <a:pPr algn="l"/>
            <a:r>
              <a:rPr lang="en-IN" sz="1200" dirty="0">
                <a:solidFill>
                  <a:schemeClr val="bg1"/>
                </a:solidFill>
              </a:rPr>
              <a:t>End-to-End Mutual Fund Analytics using Python, SQLite &amp; Power BI</a:t>
            </a:r>
          </a:p>
          <a:p>
            <a:pPr algn="l"/>
            <a:r>
              <a:rPr lang="en-IN" sz="1200" dirty="0">
                <a:solidFill>
                  <a:schemeClr val="bg1"/>
                </a:solidFill>
              </a:rPr>
              <a:t>Technologies Used:</a:t>
            </a:r>
            <a:br>
              <a:rPr lang="en-IN" sz="1200" dirty="0">
                <a:solidFill>
                  <a:schemeClr val="bg1"/>
                </a:solidFill>
              </a:rPr>
            </a:br>
            <a:r>
              <a:rPr lang="en-IN" sz="1200" dirty="0">
                <a:solidFill>
                  <a:schemeClr val="bg1"/>
                </a:solidFill>
              </a:rPr>
              <a:t>Python | Pandas | SQLite | Power BI | Plotly | Seaborn</a:t>
            </a:r>
          </a:p>
          <a:p>
            <a:pPr algn="l"/>
            <a:r>
              <a:rPr lang="en-IN" sz="1200" dirty="0">
                <a:solidFill>
                  <a:schemeClr val="bg1"/>
                </a:solidFill>
              </a:rPr>
              <a:t>Prepared By:</a:t>
            </a:r>
            <a:br>
              <a:rPr lang="en-IN" sz="1200" dirty="0">
                <a:solidFill>
                  <a:schemeClr val="bg1"/>
                </a:solidFill>
              </a:rPr>
            </a:br>
            <a:r>
              <a:rPr lang="en-IN" sz="1200" dirty="0">
                <a:solidFill>
                  <a:schemeClr val="bg1"/>
                </a:solidFill>
              </a:rPr>
              <a:t>Deepthi Sree Kotagiri</a:t>
            </a:r>
          </a:p>
          <a:p>
            <a:pPr algn="l"/>
            <a:endParaRPr lang="en-IN" sz="1100" dirty="0">
              <a:solidFill>
                <a:schemeClr val="bg1"/>
              </a:solidFill>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5585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446BF9C2-A393-3F4E-93CB-FF4B55A10A7C}"/>
              </a:ext>
            </a:extLst>
          </p:cNvPr>
          <p:cNvSpPr>
            <a:spLocks noGrp="1"/>
          </p:cNvSpPr>
          <p:nvPr>
            <p:ph type="title"/>
          </p:nvPr>
        </p:nvSpPr>
        <p:spPr>
          <a:xfrm>
            <a:off x="838200" y="448721"/>
            <a:ext cx="4707671" cy="1225650"/>
          </a:xfrm>
        </p:spPr>
        <p:txBody>
          <a:bodyPr anchor="b">
            <a:normAutofit/>
          </a:bodyPr>
          <a:lstStyle/>
          <a:p>
            <a:r>
              <a:rPr lang="en-IN" sz="2700">
                <a:solidFill>
                  <a:schemeClr val="bg1"/>
                </a:solidFill>
              </a:rPr>
              <a:t>Problem Statement &amp; Objectives</a:t>
            </a:r>
            <a:br>
              <a:rPr lang="en-IN" sz="2700">
                <a:solidFill>
                  <a:schemeClr val="bg1"/>
                </a:solidFill>
              </a:rPr>
            </a:br>
            <a:endParaRPr lang="en-IN" sz="2700">
              <a:solidFill>
                <a:schemeClr val="bg1"/>
              </a:solidFill>
            </a:endParaRPr>
          </a:p>
        </p:txBody>
      </p:sp>
      <p:cxnSp>
        <p:nvCxnSpPr>
          <p:cNvPr id="11"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9554CD7-8721-D2B8-FAA6-3D4A4A4F9847}"/>
              </a:ext>
            </a:extLst>
          </p:cNvPr>
          <p:cNvSpPr>
            <a:spLocks noGrp="1"/>
          </p:cNvSpPr>
          <p:nvPr>
            <p:ph idx="1"/>
          </p:nvPr>
        </p:nvSpPr>
        <p:spPr>
          <a:xfrm>
            <a:off x="897769" y="1909192"/>
            <a:ext cx="4586513" cy="3647710"/>
          </a:xfrm>
        </p:spPr>
        <p:txBody>
          <a:bodyPr>
            <a:normAutofit/>
          </a:bodyPr>
          <a:lstStyle/>
          <a:p>
            <a:pPr marL="0" indent="0">
              <a:buNone/>
            </a:pPr>
            <a:r>
              <a:rPr lang="en-IN" sz="1400">
                <a:solidFill>
                  <a:schemeClr val="bg1"/>
                </a:solidFill>
              </a:rPr>
              <a:t>Problem Statement </a:t>
            </a:r>
          </a:p>
          <a:p>
            <a:r>
              <a:rPr lang="en-IN" sz="1400">
                <a:solidFill>
                  <a:schemeClr val="bg1"/>
                </a:solidFill>
              </a:rPr>
              <a:t>The mutual fund industry generates large volumes of data related to fund performance, investor transactions, NAV movements, and market trends. Extracting meaningful insights from this data is essential for investors and fund managers.</a:t>
            </a:r>
          </a:p>
          <a:p>
            <a:pPr marL="0" indent="0">
              <a:buNone/>
            </a:pPr>
            <a:r>
              <a:rPr lang="en-IN" sz="1400">
                <a:solidFill>
                  <a:schemeClr val="bg1"/>
                </a:solidFill>
              </a:rPr>
              <a:t>Objectives</a:t>
            </a:r>
          </a:p>
          <a:p>
            <a:pPr marL="0" indent="0">
              <a:buNone/>
            </a:pPr>
            <a:r>
              <a:rPr lang="en-IN" sz="1400">
                <a:solidFill>
                  <a:schemeClr val="bg1"/>
                </a:solidFill>
              </a:rPr>
              <a:t>• Build a complete ETL pipeline for mutual fund data</a:t>
            </a:r>
          </a:p>
          <a:p>
            <a:pPr marL="0" indent="0">
              <a:buNone/>
            </a:pPr>
            <a:r>
              <a:rPr lang="en-IN" sz="1400">
                <a:solidFill>
                  <a:schemeClr val="bg1"/>
                </a:solidFill>
              </a:rPr>
              <a:t>• Perform Exploratory Data Analysis (EDA)</a:t>
            </a:r>
          </a:p>
          <a:p>
            <a:pPr marL="0" indent="0">
              <a:buNone/>
            </a:pPr>
            <a:r>
              <a:rPr lang="en-IN" sz="1400">
                <a:solidFill>
                  <a:schemeClr val="bg1"/>
                </a:solidFill>
              </a:rPr>
              <a:t>• Analyze fund performance using financial metrics</a:t>
            </a:r>
          </a:p>
          <a:p>
            <a:pPr marL="0" indent="0">
              <a:buNone/>
            </a:pPr>
            <a:r>
              <a:rPr lang="en-IN" sz="1400">
                <a:solidFill>
                  <a:schemeClr val="bg1"/>
                </a:solidFill>
              </a:rPr>
              <a:t>• Develop an interactive Power BI dashboard</a:t>
            </a:r>
          </a:p>
          <a:p>
            <a:pPr marL="0" indent="0">
              <a:buNone/>
            </a:pPr>
            <a:r>
              <a:rPr lang="en-IN" sz="1400">
                <a:solidFill>
                  <a:schemeClr val="bg1"/>
                </a:solidFill>
              </a:rPr>
              <a:t>• Perform advanced risk and investor analytics</a:t>
            </a:r>
          </a:p>
          <a:p>
            <a:pPr marL="0" indent="0">
              <a:buNone/>
            </a:pPr>
            <a:r>
              <a:rPr lang="en-IN" sz="1400">
                <a:solidFill>
                  <a:schemeClr val="bg1"/>
                </a:solidFill>
              </a:rPr>
              <a:t>• Generate actionable investment insights</a:t>
            </a:r>
          </a:p>
          <a:p>
            <a:pPr marL="0" indent="0">
              <a:buNone/>
            </a:pPr>
            <a:endParaRPr lang="en-IN" sz="1400">
              <a:solidFill>
                <a:schemeClr val="bg1"/>
              </a:solidFill>
            </a:endParaRPr>
          </a:p>
        </p:txBody>
      </p:sp>
      <p:cxnSp>
        <p:nvCxnSpPr>
          <p:cNvPr id="13"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Digital financial graph">
            <a:extLst>
              <a:ext uri="{FF2B5EF4-FFF2-40B4-BE49-F238E27FC236}">
                <a16:creationId xmlns:a16="http://schemas.microsoft.com/office/drawing/2014/main" id="{0E81C6E7-7E5F-AC49-74D0-6585C19FEAC5}"/>
              </a:ext>
            </a:extLst>
          </p:cNvPr>
          <p:cNvPicPr>
            <a:picLocks noChangeAspect="1"/>
          </p:cNvPicPr>
          <p:nvPr/>
        </p:nvPicPr>
        <p:blipFill>
          <a:blip r:embed="rId2"/>
          <a:stretch>
            <a:fillRect/>
          </a:stretch>
        </p:blipFill>
        <p:spPr>
          <a:xfrm>
            <a:off x="6525453" y="1835284"/>
            <a:ext cx="5666547" cy="3187432"/>
          </a:xfrm>
          <a:prstGeom prst="rect">
            <a:avLst/>
          </a:prstGeom>
        </p:spPr>
      </p:pic>
    </p:spTree>
    <p:extLst>
      <p:ext uri="{BB962C8B-B14F-4D97-AF65-F5344CB8AC3E}">
        <p14:creationId xmlns:p14="http://schemas.microsoft.com/office/powerpoint/2010/main" val="1679200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E5735ED6-CB32-F701-F12A-4BDB2B1A7A92}"/>
              </a:ext>
            </a:extLst>
          </p:cNvPr>
          <p:cNvSpPr>
            <a:spLocks noGrp="1"/>
          </p:cNvSpPr>
          <p:nvPr>
            <p:ph type="title"/>
          </p:nvPr>
        </p:nvSpPr>
        <p:spPr>
          <a:xfrm>
            <a:off x="838200" y="669925"/>
            <a:ext cx="4508946" cy="1325563"/>
          </a:xfrm>
        </p:spPr>
        <p:txBody>
          <a:bodyPr anchor="b">
            <a:normAutofit/>
          </a:bodyPr>
          <a:lstStyle/>
          <a:p>
            <a:pPr algn="r"/>
            <a:r>
              <a:rPr lang="en-IN">
                <a:solidFill>
                  <a:schemeClr val="bg1"/>
                </a:solidFill>
              </a:rPr>
              <a:t>Data Sources</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807EDB7-8E76-A5C2-B446-3C47C6BAAFBC}"/>
              </a:ext>
            </a:extLst>
          </p:cNvPr>
          <p:cNvSpPr>
            <a:spLocks noGrp="1"/>
          </p:cNvSpPr>
          <p:nvPr>
            <p:ph idx="1"/>
          </p:nvPr>
        </p:nvSpPr>
        <p:spPr>
          <a:xfrm>
            <a:off x="1392667" y="2398957"/>
            <a:ext cx="9406666" cy="3526144"/>
          </a:xfrm>
        </p:spPr>
        <p:txBody>
          <a:bodyPr>
            <a:normAutofit/>
          </a:bodyPr>
          <a:lstStyle/>
          <a:p>
            <a:r>
              <a:rPr lang="en-IN" sz="2000" b="1" dirty="0">
                <a:solidFill>
                  <a:schemeClr val="bg1"/>
                </a:solidFill>
              </a:rPr>
              <a:t>Datasets Used</a:t>
            </a:r>
          </a:p>
          <a:p>
            <a:r>
              <a:rPr lang="en-IN" sz="2000" dirty="0">
                <a:solidFill>
                  <a:schemeClr val="bg1"/>
                </a:solidFill>
              </a:rPr>
              <a:t>Fund Master Data</a:t>
            </a:r>
          </a:p>
          <a:p>
            <a:pPr lvl="1"/>
            <a:r>
              <a:rPr lang="en-IN" sz="2000" dirty="0">
                <a:solidFill>
                  <a:schemeClr val="bg1"/>
                </a:solidFill>
              </a:rPr>
              <a:t>Scheme information</a:t>
            </a:r>
          </a:p>
          <a:p>
            <a:pPr lvl="1"/>
            <a:r>
              <a:rPr lang="en-IN" sz="2000" dirty="0">
                <a:solidFill>
                  <a:schemeClr val="bg1"/>
                </a:solidFill>
              </a:rPr>
              <a:t>Categories</a:t>
            </a:r>
          </a:p>
          <a:p>
            <a:pPr lvl="1"/>
            <a:r>
              <a:rPr lang="en-IN" sz="2000" dirty="0">
                <a:solidFill>
                  <a:schemeClr val="bg1"/>
                </a:solidFill>
              </a:rPr>
              <a:t>Risk grades</a:t>
            </a:r>
          </a:p>
          <a:p>
            <a:r>
              <a:rPr lang="en-IN" sz="2000" dirty="0">
                <a:solidFill>
                  <a:schemeClr val="bg1"/>
                </a:solidFill>
              </a:rPr>
              <a:t>NAV History</a:t>
            </a:r>
          </a:p>
          <a:p>
            <a:pPr lvl="1"/>
            <a:r>
              <a:rPr lang="en-IN" sz="2000" dirty="0">
                <a:solidFill>
                  <a:schemeClr val="bg1"/>
                </a:solidFill>
              </a:rPr>
              <a:t>Daily NAV records (2022–2026)</a:t>
            </a:r>
          </a:p>
          <a:p>
            <a:r>
              <a:rPr lang="en-IN" sz="2000" dirty="0">
                <a:solidFill>
                  <a:schemeClr val="bg1"/>
                </a:solidFill>
              </a:rPr>
              <a:t>Scheme Performance</a:t>
            </a:r>
          </a:p>
          <a:p>
            <a:pPr lvl="1"/>
            <a:r>
              <a:rPr lang="en-IN" sz="2000" dirty="0">
                <a:solidFill>
                  <a:schemeClr val="bg1"/>
                </a:solidFill>
              </a:rPr>
              <a:t>Returns, Sharpe Ratio, Alpha, Beta</a:t>
            </a:r>
          </a:p>
          <a:p>
            <a:pPr marL="0" indent="0">
              <a:buNone/>
            </a:pPr>
            <a:endParaRPr lang="en-IN" sz="2000" dirty="0">
              <a:solidFill>
                <a:schemeClr val="bg1"/>
              </a:solidFill>
            </a:endParaRPr>
          </a:p>
        </p:txBody>
      </p:sp>
      <p:sp>
        <p:nvSpPr>
          <p:cNvPr id="20" name="Rectangle 19">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3850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495A932-5269-39FD-E643-5AFC69E1B77C}"/>
              </a:ext>
            </a:extLst>
          </p:cNvPr>
          <p:cNvSpPr>
            <a:spLocks noGrp="1"/>
          </p:cNvSpPr>
          <p:nvPr>
            <p:ph idx="1"/>
          </p:nvPr>
        </p:nvSpPr>
        <p:spPr>
          <a:xfrm>
            <a:off x="1392667" y="2398957"/>
            <a:ext cx="9406666" cy="3526144"/>
          </a:xfrm>
        </p:spPr>
        <p:txBody>
          <a:bodyPr>
            <a:normAutofit/>
          </a:bodyPr>
          <a:lstStyle/>
          <a:p>
            <a:r>
              <a:rPr lang="en-IN" sz="2000" dirty="0">
                <a:solidFill>
                  <a:schemeClr val="bg1"/>
                </a:solidFill>
              </a:rPr>
              <a:t>Investor Transactions</a:t>
            </a:r>
          </a:p>
          <a:p>
            <a:pPr lvl="1"/>
            <a:r>
              <a:rPr lang="en-IN" sz="2000" dirty="0">
                <a:solidFill>
                  <a:schemeClr val="bg1"/>
                </a:solidFill>
              </a:rPr>
              <a:t>SIPs, Redemptions, Lumpsum Investments</a:t>
            </a:r>
          </a:p>
          <a:p>
            <a:r>
              <a:rPr lang="en-IN" sz="2000" dirty="0">
                <a:solidFill>
                  <a:schemeClr val="bg1"/>
                </a:solidFill>
              </a:rPr>
              <a:t>Portfolio Holdings</a:t>
            </a:r>
          </a:p>
          <a:p>
            <a:pPr lvl="1"/>
            <a:r>
              <a:rPr lang="en-IN" sz="2000" dirty="0">
                <a:solidFill>
                  <a:schemeClr val="bg1"/>
                </a:solidFill>
              </a:rPr>
              <a:t>Sector allocation and holdings</a:t>
            </a:r>
          </a:p>
          <a:p>
            <a:r>
              <a:rPr lang="en-IN" sz="2000" dirty="0">
                <a:solidFill>
                  <a:schemeClr val="bg1"/>
                </a:solidFill>
              </a:rPr>
              <a:t>Benchmark Indices</a:t>
            </a:r>
          </a:p>
          <a:p>
            <a:pPr lvl="1"/>
            <a:r>
              <a:rPr lang="en-IN" sz="2000" dirty="0">
                <a:solidFill>
                  <a:schemeClr val="bg1"/>
                </a:solidFill>
              </a:rPr>
              <a:t>NIFTY 50</a:t>
            </a:r>
          </a:p>
          <a:p>
            <a:pPr lvl="1"/>
            <a:r>
              <a:rPr lang="en-IN" sz="2000" dirty="0">
                <a:solidFill>
                  <a:schemeClr val="bg1"/>
                </a:solidFill>
              </a:rPr>
              <a:t>NIFTY 100</a:t>
            </a:r>
          </a:p>
          <a:p>
            <a:endParaRPr lang="en-IN" sz="20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41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EA4FD8-B562-EF64-D57C-014EDE6D5D76}"/>
              </a:ext>
            </a:extLst>
          </p:cNvPr>
          <p:cNvSpPr>
            <a:spLocks noGrp="1"/>
          </p:cNvSpPr>
          <p:nvPr>
            <p:ph type="title"/>
          </p:nvPr>
        </p:nvSpPr>
        <p:spPr>
          <a:xfrm>
            <a:off x="838200" y="1641752"/>
            <a:ext cx="4391025" cy="1323439"/>
          </a:xfrm>
        </p:spPr>
        <p:txBody>
          <a:bodyPr anchor="t">
            <a:normAutofit/>
          </a:bodyPr>
          <a:lstStyle/>
          <a:p>
            <a:r>
              <a:rPr lang="en-IN" sz="4000">
                <a:solidFill>
                  <a:schemeClr val="bg1"/>
                </a:solidFill>
              </a:rPr>
              <a:t>System Architecture</a:t>
            </a:r>
          </a:p>
        </p:txBody>
      </p:sp>
      <p:sp>
        <p:nvSpPr>
          <p:cNvPr id="3" name="Content Placeholder 2">
            <a:extLst>
              <a:ext uri="{FF2B5EF4-FFF2-40B4-BE49-F238E27FC236}">
                <a16:creationId xmlns:a16="http://schemas.microsoft.com/office/drawing/2014/main" id="{602179CB-24F7-0C79-65A7-51C3BF5C0E20}"/>
              </a:ext>
            </a:extLst>
          </p:cNvPr>
          <p:cNvSpPr>
            <a:spLocks noGrp="1"/>
          </p:cNvSpPr>
          <p:nvPr>
            <p:ph idx="1"/>
          </p:nvPr>
        </p:nvSpPr>
        <p:spPr>
          <a:xfrm>
            <a:off x="838200" y="3146400"/>
            <a:ext cx="4391025" cy="2454300"/>
          </a:xfrm>
        </p:spPr>
        <p:txBody>
          <a:bodyPr>
            <a:normAutofit/>
          </a:bodyPr>
          <a:lstStyle/>
          <a:p>
            <a:pPr marL="0" indent="0">
              <a:buNone/>
            </a:pPr>
            <a:r>
              <a:rPr lang="en-IN" sz="2200" b="1" dirty="0">
                <a:solidFill>
                  <a:schemeClr val="bg1">
                    <a:alpha val="80000"/>
                  </a:schemeClr>
                </a:solidFill>
              </a:rPr>
              <a:t>Project Workflow</a:t>
            </a:r>
          </a:p>
          <a:p>
            <a:endParaRPr lang="en-IN" sz="2200" b="1" dirty="0">
              <a:solidFill>
                <a:schemeClr val="bg1">
                  <a:alpha val="80000"/>
                </a:schemeClr>
              </a:solidFill>
            </a:endParaRPr>
          </a:p>
          <a:p>
            <a:pPr marL="0" indent="0">
              <a:buNone/>
            </a:pPr>
            <a:r>
              <a:rPr lang="en-IN" sz="2200" b="1" dirty="0">
                <a:solidFill>
                  <a:schemeClr val="bg1">
                    <a:alpha val="80000"/>
                  </a:schemeClr>
                </a:solidFill>
              </a:rPr>
              <a:t>Outcome</a:t>
            </a:r>
          </a:p>
          <a:p>
            <a:r>
              <a:rPr lang="en-IN" sz="2200" dirty="0">
                <a:solidFill>
                  <a:schemeClr val="bg1">
                    <a:alpha val="80000"/>
                  </a:schemeClr>
                </a:solidFill>
              </a:rPr>
              <a:t>Built a complete analytics pipeline transforming raw mutual fund data into actionable insights.</a:t>
            </a:r>
          </a:p>
          <a:p>
            <a:endParaRPr lang="en-IN" sz="2200" dirty="0">
              <a:solidFill>
                <a:schemeClr val="bg1">
                  <a:alpha val="80000"/>
                </a:schemeClr>
              </a:solidFill>
            </a:endParaRPr>
          </a:p>
        </p:txBody>
      </p:sp>
      <p:pic>
        <p:nvPicPr>
          <p:cNvPr id="5" name="Picture 4">
            <a:extLst>
              <a:ext uri="{FF2B5EF4-FFF2-40B4-BE49-F238E27FC236}">
                <a16:creationId xmlns:a16="http://schemas.microsoft.com/office/drawing/2014/main" id="{6714C921-7DC6-3519-522C-AA765F9AB727}"/>
              </a:ext>
            </a:extLst>
          </p:cNvPr>
          <p:cNvPicPr>
            <a:picLocks noChangeAspect="1"/>
          </p:cNvPicPr>
          <p:nvPr/>
        </p:nvPicPr>
        <p:blipFill>
          <a:blip r:embed="rId2"/>
          <a:stretch>
            <a:fillRect/>
          </a:stretch>
        </p:blipFill>
        <p:spPr>
          <a:xfrm>
            <a:off x="6067425" y="770021"/>
            <a:ext cx="3980711" cy="5678905"/>
          </a:xfrm>
          <a:prstGeom prst="rect">
            <a:avLst/>
          </a:prstGeom>
        </p:spPr>
      </p:pic>
    </p:spTree>
    <p:extLst>
      <p:ext uri="{BB962C8B-B14F-4D97-AF65-F5344CB8AC3E}">
        <p14:creationId xmlns:p14="http://schemas.microsoft.com/office/powerpoint/2010/main" val="3770234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49C75-38F1-F0EE-E7C0-341A0EF01B94}"/>
              </a:ext>
            </a:extLst>
          </p:cNvPr>
          <p:cNvSpPr>
            <a:spLocks noGrp="1"/>
          </p:cNvSpPr>
          <p:nvPr>
            <p:ph type="title"/>
          </p:nvPr>
        </p:nvSpPr>
        <p:spPr>
          <a:xfrm>
            <a:off x="838200" y="1641752"/>
            <a:ext cx="4391024" cy="1323439"/>
          </a:xfrm>
        </p:spPr>
        <p:txBody>
          <a:bodyPr vert="horz" lIns="91440" tIns="45720" rIns="91440" bIns="45720" rtlCol="0" anchor="t">
            <a:normAutofit/>
          </a:bodyPr>
          <a:lstStyle/>
          <a:p>
            <a:r>
              <a:rPr lang="en-US" sz="4000" kern="1200">
                <a:solidFill>
                  <a:schemeClr val="bg1"/>
                </a:solidFill>
                <a:latin typeface="+mj-lt"/>
                <a:ea typeface="+mj-ea"/>
                <a:cs typeface="+mj-cs"/>
              </a:rPr>
              <a:t>EDA Highlights </a:t>
            </a:r>
          </a:p>
        </p:txBody>
      </p:sp>
      <p:sp>
        <p:nvSpPr>
          <p:cNvPr id="3" name="Content Placeholder 2">
            <a:extLst>
              <a:ext uri="{FF2B5EF4-FFF2-40B4-BE49-F238E27FC236}">
                <a16:creationId xmlns:a16="http://schemas.microsoft.com/office/drawing/2014/main" id="{F5695327-8BBF-FE1E-A6BA-95E533659CF9}"/>
              </a:ext>
            </a:extLst>
          </p:cNvPr>
          <p:cNvSpPr>
            <a:spLocks noGrp="1"/>
          </p:cNvSpPr>
          <p:nvPr>
            <p:ph sz="half" idx="1"/>
          </p:nvPr>
        </p:nvSpPr>
        <p:spPr>
          <a:xfrm>
            <a:off x="838200" y="3146400"/>
            <a:ext cx="4391024" cy="2454300"/>
          </a:xfrm>
        </p:spPr>
        <p:txBody>
          <a:bodyPr vert="horz" lIns="91440" tIns="45720" rIns="91440" bIns="45720" rtlCol="0">
            <a:normAutofit/>
          </a:bodyPr>
          <a:lstStyle/>
          <a:p>
            <a:pPr marL="0"/>
            <a:r>
              <a:rPr lang="en-US" sz="2400" b="1">
                <a:solidFill>
                  <a:schemeClr val="bg1">
                    <a:alpha val="80000"/>
                  </a:schemeClr>
                </a:solidFill>
              </a:rPr>
              <a:t>Key Exploratory Analysis</a:t>
            </a:r>
          </a:p>
          <a:p>
            <a:r>
              <a:rPr lang="en-US" sz="2400" b="1">
                <a:solidFill>
                  <a:schemeClr val="bg1">
                    <a:alpha val="80000"/>
                  </a:schemeClr>
                </a:solidFill>
              </a:rPr>
              <a:t>NAV Trend Analysis</a:t>
            </a:r>
          </a:p>
          <a:p>
            <a:pPr marL="0"/>
            <a:r>
              <a:rPr lang="en-US" sz="2400">
                <a:solidFill>
                  <a:schemeClr val="bg1">
                    <a:alpha val="80000"/>
                  </a:schemeClr>
                </a:solidFill>
              </a:rPr>
              <a:t>• Analyzed NAV movement across 40 schemes</a:t>
            </a:r>
          </a:p>
          <a:p>
            <a:pPr marL="0"/>
            <a:r>
              <a:rPr lang="en-US" sz="2400">
                <a:solidFill>
                  <a:schemeClr val="bg1">
                    <a:alpha val="80000"/>
                  </a:schemeClr>
                </a:solidFill>
              </a:rPr>
              <a:t>• Identified strong growth during market rallies</a:t>
            </a:r>
          </a:p>
          <a:p>
            <a:endParaRPr lang="en-US" sz="2400">
              <a:solidFill>
                <a:schemeClr val="bg1">
                  <a:alpha val="80000"/>
                </a:schemeClr>
              </a:solidFill>
            </a:endParaRPr>
          </a:p>
        </p:txBody>
      </p:sp>
      <p:grpSp>
        <p:nvGrpSpPr>
          <p:cNvPr id="13" name="Group 12">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14" name="Group 13">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18" name="Freeform: Shape 17">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5" name="Group 14">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16" name="Freeform: Shape 15">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6" name="Content Placeholder 5">
            <a:extLst>
              <a:ext uri="{FF2B5EF4-FFF2-40B4-BE49-F238E27FC236}">
                <a16:creationId xmlns:a16="http://schemas.microsoft.com/office/drawing/2014/main" id="{7367A325-2583-091C-1E92-4F98A9AF689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541932" y="1981377"/>
            <a:ext cx="4369112" cy="1802258"/>
          </a:xfrm>
          <a:prstGeom prst="rect">
            <a:avLst/>
          </a:prstGeom>
        </p:spPr>
      </p:pic>
    </p:spTree>
    <p:extLst>
      <p:ext uri="{BB962C8B-B14F-4D97-AF65-F5344CB8AC3E}">
        <p14:creationId xmlns:p14="http://schemas.microsoft.com/office/powerpoint/2010/main" val="4253502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5" name="Straight Connector 1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2DD85AC-B168-2F15-AE35-4E81F1BDDA0A}"/>
              </a:ext>
            </a:extLst>
          </p:cNvPr>
          <p:cNvSpPr>
            <a:spLocks noGrp="1"/>
          </p:cNvSpPr>
          <p:nvPr>
            <p:ph sz="half" idx="1"/>
          </p:nvPr>
        </p:nvSpPr>
        <p:spPr>
          <a:xfrm>
            <a:off x="1295400" y="2288833"/>
            <a:ext cx="4800600" cy="3711571"/>
          </a:xfrm>
        </p:spPr>
        <p:txBody>
          <a:bodyPr vert="horz" lIns="91440" tIns="45720" rIns="91440" bIns="45720" rtlCol="0">
            <a:normAutofit/>
          </a:bodyPr>
          <a:lstStyle/>
          <a:p>
            <a:r>
              <a:rPr lang="en-US" sz="2000" b="1">
                <a:solidFill>
                  <a:schemeClr val="bg1"/>
                </a:solidFill>
              </a:rPr>
              <a:t>AUM Growth Analysis</a:t>
            </a:r>
          </a:p>
          <a:p>
            <a:pPr marL="0"/>
            <a:r>
              <a:rPr lang="en-US" sz="2000">
                <a:solidFill>
                  <a:schemeClr val="bg1"/>
                </a:solidFill>
              </a:rPr>
              <a:t>• SBI Mutual Fund emerged as the market leader</a:t>
            </a:r>
          </a:p>
          <a:p>
            <a:pPr marL="0"/>
            <a:r>
              <a:rPr lang="en-US" sz="2000">
                <a:solidFill>
                  <a:schemeClr val="bg1"/>
                </a:solidFill>
              </a:rPr>
              <a:t>• Significant industry growth observed between 2022–2025</a:t>
            </a:r>
          </a:p>
          <a:p>
            <a:pPr marL="0"/>
            <a:r>
              <a:rPr lang="en-US" sz="2000" b="1">
                <a:solidFill>
                  <a:schemeClr val="bg1"/>
                </a:solidFill>
              </a:rPr>
              <a:t>SIP Inflow Trends</a:t>
            </a:r>
          </a:p>
          <a:p>
            <a:pPr marL="0"/>
            <a:r>
              <a:rPr lang="en-US" sz="2000">
                <a:solidFill>
                  <a:schemeClr val="bg1"/>
                </a:solidFill>
              </a:rPr>
              <a:t>• Continuous increase in monthly SIP investments</a:t>
            </a:r>
          </a:p>
          <a:p>
            <a:pPr marL="0"/>
            <a:r>
              <a:rPr lang="en-US" sz="2000">
                <a:solidFill>
                  <a:schemeClr val="bg1"/>
                </a:solidFill>
              </a:rPr>
              <a:t>• Strong investor participation throughout the period</a:t>
            </a:r>
          </a:p>
          <a:p>
            <a:pPr marL="0"/>
            <a:endParaRPr lang="en-US" sz="2000">
              <a:solidFill>
                <a:schemeClr val="bg1"/>
              </a:solidFill>
            </a:endParaRPr>
          </a:p>
          <a:p>
            <a:endParaRPr lang="en-US" sz="2000">
              <a:solidFill>
                <a:schemeClr val="bg1"/>
              </a:solidFill>
            </a:endParaRPr>
          </a:p>
        </p:txBody>
      </p:sp>
      <p:pic>
        <p:nvPicPr>
          <p:cNvPr id="8" name="Picture 7">
            <a:extLst>
              <a:ext uri="{FF2B5EF4-FFF2-40B4-BE49-F238E27FC236}">
                <a16:creationId xmlns:a16="http://schemas.microsoft.com/office/drawing/2014/main" id="{81EF3C6A-EB10-1737-5FEB-F4B7D93AE2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5193" y="905391"/>
            <a:ext cx="3588640" cy="1713575"/>
          </a:xfrm>
          <a:prstGeom prst="rect">
            <a:avLst/>
          </a:prstGeom>
        </p:spPr>
      </p:pic>
      <p:sp>
        <p:nvSpPr>
          <p:cNvPr id="17" name="Rectangle 16">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2B002258-EC46-D5A3-9F99-3F23AA919AE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038661" y="4382376"/>
            <a:ext cx="3588640" cy="1480314"/>
          </a:xfrm>
          <a:prstGeom prst="rect">
            <a:avLst/>
          </a:prstGeom>
        </p:spPr>
      </p:pic>
      <p:sp>
        <p:nvSpPr>
          <p:cNvPr id="19" name="Rectangle 18">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427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5" name="Straight Connector 1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8F3EC47-987F-7CF3-3A59-61688F8BB3DD}"/>
              </a:ext>
            </a:extLst>
          </p:cNvPr>
          <p:cNvSpPr>
            <a:spLocks noGrp="1"/>
          </p:cNvSpPr>
          <p:nvPr>
            <p:ph sz="half" idx="1"/>
          </p:nvPr>
        </p:nvSpPr>
        <p:spPr>
          <a:xfrm>
            <a:off x="1295400" y="2288833"/>
            <a:ext cx="4800600" cy="3711571"/>
          </a:xfrm>
        </p:spPr>
        <p:txBody>
          <a:bodyPr vert="horz" lIns="91440" tIns="45720" rIns="91440" bIns="45720" rtlCol="0">
            <a:normAutofit/>
          </a:bodyPr>
          <a:lstStyle/>
          <a:p>
            <a:pPr marL="0"/>
            <a:r>
              <a:rPr lang="en-US" sz="2000" b="1">
                <a:solidFill>
                  <a:schemeClr val="bg1"/>
                </a:solidFill>
              </a:rPr>
              <a:t>Investor &amp; Market Insights</a:t>
            </a:r>
          </a:p>
          <a:p>
            <a:pPr marL="0"/>
            <a:r>
              <a:rPr lang="en-US" sz="2000" b="1">
                <a:solidFill>
                  <a:schemeClr val="bg1"/>
                </a:solidFill>
              </a:rPr>
              <a:t>Category Inflows</a:t>
            </a:r>
          </a:p>
          <a:p>
            <a:pPr marL="0"/>
            <a:r>
              <a:rPr lang="en-US" sz="2000">
                <a:solidFill>
                  <a:schemeClr val="bg1"/>
                </a:solidFill>
              </a:rPr>
              <a:t>• Equity-oriented categories received the highest inflows</a:t>
            </a:r>
          </a:p>
          <a:p>
            <a:pPr marL="0"/>
            <a:r>
              <a:rPr lang="en-US" sz="2000">
                <a:solidFill>
                  <a:schemeClr val="bg1"/>
                </a:solidFill>
              </a:rPr>
              <a:t>• Mid-cap and flexi-cap funds showed strong popularity</a:t>
            </a:r>
          </a:p>
          <a:p>
            <a:pPr marL="0"/>
            <a:r>
              <a:rPr lang="en-US" sz="2000" b="1">
                <a:solidFill>
                  <a:schemeClr val="bg1"/>
                </a:solidFill>
              </a:rPr>
              <a:t>Investor Demographics</a:t>
            </a:r>
          </a:p>
          <a:p>
            <a:pPr marL="0"/>
            <a:r>
              <a:rPr lang="en-US" sz="2000">
                <a:solidFill>
                  <a:schemeClr val="bg1"/>
                </a:solidFill>
              </a:rPr>
              <a:t>• Young investors contributed significantly to SIP investments</a:t>
            </a:r>
          </a:p>
          <a:p>
            <a:endParaRPr lang="en-US" sz="2000">
              <a:solidFill>
                <a:schemeClr val="bg1"/>
              </a:solidFill>
            </a:endParaRPr>
          </a:p>
        </p:txBody>
      </p:sp>
      <p:pic>
        <p:nvPicPr>
          <p:cNvPr id="6" name="Content Placeholder 5">
            <a:extLst>
              <a:ext uri="{FF2B5EF4-FFF2-40B4-BE49-F238E27FC236}">
                <a16:creationId xmlns:a16="http://schemas.microsoft.com/office/drawing/2014/main" id="{8E00F07D-2B7C-F96E-15FD-6ACD3D64C3E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95976" y="369913"/>
            <a:ext cx="2687073" cy="2784532"/>
          </a:xfrm>
          <a:prstGeom prst="rect">
            <a:avLst/>
          </a:prstGeom>
        </p:spPr>
      </p:pic>
      <p:sp>
        <p:nvSpPr>
          <p:cNvPr id="17" name="Rectangle 16">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1E8DAA2-54C0-6E9C-BC4F-670D3A810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8661" y="4283689"/>
            <a:ext cx="3588640" cy="1677688"/>
          </a:xfrm>
          <a:prstGeom prst="rect">
            <a:avLst/>
          </a:prstGeom>
        </p:spPr>
      </p:pic>
      <p:sp>
        <p:nvSpPr>
          <p:cNvPr id="19" name="Rectangle 18">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1381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172579-C1D0-D5BB-14E3-8107630C6B41}"/>
              </a:ext>
            </a:extLst>
          </p:cNvPr>
          <p:cNvSpPr>
            <a:spLocks noGrp="1"/>
          </p:cNvSpPr>
          <p:nvPr>
            <p:ph sz="half" idx="1"/>
          </p:nvPr>
        </p:nvSpPr>
        <p:spPr>
          <a:xfrm>
            <a:off x="838200" y="3146400"/>
            <a:ext cx="4391025" cy="2454300"/>
          </a:xfrm>
        </p:spPr>
        <p:txBody>
          <a:bodyPr vert="horz" lIns="91440" tIns="45720" rIns="91440" bIns="45720" rtlCol="0">
            <a:normAutofit/>
          </a:bodyPr>
          <a:lstStyle/>
          <a:p>
            <a:pPr marL="0"/>
            <a:r>
              <a:rPr lang="en-US" sz="2400" b="1">
                <a:solidFill>
                  <a:schemeClr val="bg1">
                    <a:alpha val="80000"/>
                  </a:schemeClr>
                </a:solidFill>
              </a:rPr>
              <a:t>Folio Growth</a:t>
            </a:r>
          </a:p>
          <a:p>
            <a:pPr marL="0"/>
            <a:r>
              <a:rPr lang="en-US" sz="2400">
                <a:solidFill>
                  <a:schemeClr val="bg1">
                    <a:alpha val="80000"/>
                  </a:schemeClr>
                </a:solidFill>
              </a:rPr>
              <a:t>• Industry folios increased from 13.26 Cr to 26.12 Cr</a:t>
            </a:r>
          </a:p>
          <a:p>
            <a:pPr marL="0"/>
            <a:r>
              <a:rPr lang="en-US" sz="2400">
                <a:solidFill>
                  <a:schemeClr val="bg1">
                    <a:alpha val="80000"/>
                  </a:schemeClr>
                </a:solidFill>
              </a:rPr>
              <a:t>• Demonstrated growing retail investor participation</a:t>
            </a:r>
          </a:p>
          <a:p>
            <a:endParaRPr lang="en-US" sz="2400">
              <a:solidFill>
                <a:schemeClr val="bg1">
                  <a:alpha val="80000"/>
                </a:schemeClr>
              </a:solidFill>
            </a:endParaRPr>
          </a:p>
        </p:txBody>
      </p:sp>
      <p:pic>
        <p:nvPicPr>
          <p:cNvPr id="10" name="Content Placeholder 9">
            <a:extLst>
              <a:ext uri="{FF2B5EF4-FFF2-40B4-BE49-F238E27FC236}">
                <a16:creationId xmlns:a16="http://schemas.microsoft.com/office/drawing/2014/main" id="{F8DEDC67-6962-255D-DBD5-C871026C92D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5999" y="2021905"/>
            <a:ext cx="5260976" cy="2775165"/>
          </a:xfrm>
          <a:prstGeom prst="rect">
            <a:avLst/>
          </a:prstGeom>
        </p:spPr>
      </p:pic>
    </p:spTree>
    <p:extLst>
      <p:ext uri="{BB962C8B-B14F-4D97-AF65-F5344CB8AC3E}">
        <p14:creationId xmlns:p14="http://schemas.microsoft.com/office/powerpoint/2010/main" val="209539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133D94-CA4C-9DB5-02DD-944E70D31171}"/>
              </a:ext>
            </a:extLst>
          </p:cNvPr>
          <p:cNvSpPr>
            <a:spLocks noGrp="1"/>
          </p:cNvSpPr>
          <p:nvPr>
            <p:ph type="title"/>
          </p:nvPr>
        </p:nvSpPr>
        <p:spPr>
          <a:xfrm>
            <a:off x="838200" y="1641752"/>
            <a:ext cx="4391025" cy="1323439"/>
          </a:xfrm>
        </p:spPr>
        <p:txBody>
          <a:bodyPr vert="horz" lIns="91440" tIns="45720" rIns="91440" bIns="45720" rtlCol="0" anchor="t">
            <a:normAutofit/>
          </a:bodyPr>
          <a:lstStyle/>
          <a:p>
            <a:r>
              <a:rPr lang="en-US" sz="4000" kern="1200">
                <a:solidFill>
                  <a:schemeClr val="bg1"/>
                </a:solidFill>
                <a:latin typeface="+mj-lt"/>
                <a:ea typeface="+mj-ea"/>
                <a:cs typeface="+mj-cs"/>
              </a:rPr>
              <a:t>Performance Analytics </a:t>
            </a:r>
          </a:p>
        </p:txBody>
      </p:sp>
      <p:sp>
        <p:nvSpPr>
          <p:cNvPr id="3" name="Content Placeholder 2">
            <a:extLst>
              <a:ext uri="{FF2B5EF4-FFF2-40B4-BE49-F238E27FC236}">
                <a16:creationId xmlns:a16="http://schemas.microsoft.com/office/drawing/2014/main" id="{C40440C4-D9F0-95AA-E541-6F2D81B5F553}"/>
              </a:ext>
            </a:extLst>
          </p:cNvPr>
          <p:cNvSpPr>
            <a:spLocks noGrp="1"/>
          </p:cNvSpPr>
          <p:nvPr>
            <p:ph sz="half" idx="1"/>
          </p:nvPr>
        </p:nvSpPr>
        <p:spPr>
          <a:xfrm>
            <a:off x="838200" y="3146400"/>
            <a:ext cx="4391025" cy="2454300"/>
          </a:xfrm>
        </p:spPr>
        <p:txBody>
          <a:bodyPr vert="horz" lIns="91440" tIns="45720" rIns="91440" bIns="45720" rtlCol="0">
            <a:normAutofit/>
          </a:bodyPr>
          <a:lstStyle/>
          <a:p>
            <a:pPr marL="0"/>
            <a:r>
              <a:rPr lang="en-US" sz="2400" b="1">
                <a:solidFill>
                  <a:schemeClr val="bg1">
                    <a:alpha val="80000"/>
                  </a:schemeClr>
                </a:solidFill>
              </a:rPr>
              <a:t>Fund Performance Evaluation</a:t>
            </a:r>
          </a:p>
          <a:p>
            <a:pPr marL="0"/>
            <a:r>
              <a:rPr lang="en-US" sz="2400" b="1">
                <a:solidFill>
                  <a:schemeClr val="bg1">
                    <a:alpha val="80000"/>
                  </a:schemeClr>
                </a:solidFill>
              </a:rPr>
              <a:t>CAGR Analysis</a:t>
            </a:r>
          </a:p>
          <a:p>
            <a:pPr marL="0"/>
            <a:r>
              <a:rPr lang="en-US" sz="2400">
                <a:solidFill>
                  <a:schemeClr val="bg1">
                    <a:alpha val="80000"/>
                  </a:schemeClr>
                </a:solidFill>
              </a:rPr>
              <a:t>• Compared long-term growth across all schemes</a:t>
            </a:r>
          </a:p>
          <a:p>
            <a:endParaRPr lang="en-US" sz="2400">
              <a:solidFill>
                <a:schemeClr val="bg1">
                  <a:alpha val="80000"/>
                </a:schemeClr>
              </a:solidFill>
            </a:endParaRPr>
          </a:p>
        </p:txBody>
      </p:sp>
      <p:pic>
        <p:nvPicPr>
          <p:cNvPr id="6" name="Content Placeholder 5">
            <a:extLst>
              <a:ext uri="{FF2B5EF4-FFF2-40B4-BE49-F238E27FC236}">
                <a16:creationId xmlns:a16="http://schemas.microsoft.com/office/drawing/2014/main" id="{232BD0E3-538B-9B91-57F2-B7DF73E977E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16209" r="27120"/>
          <a:stretch>
            <a:fillRect/>
          </a:stretch>
        </p:blipFill>
        <p:spPr>
          <a:xfrm>
            <a:off x="5470359" y="1429488"/>
            <a:ext cx="5518484" cy="3960000"/>
          </a:xfrm>
          <a:prstGeom prst="rect">
            <a:avLst/>
          </a:prstGeom>
        </p:spPr>
      </p:pic>
    </p:spTree>
    <p:extLst>
      <p:ext uri="{BB962C8B-B14F-4D97-AF65-F5344CB8AC3E}">
        <p14:creationId xmlns:p14="http://schemas.microsoft.com/office/powerpoint/2010/main" val="3841211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14510C-D7E0-943E-D2AB-2F8BA5FD4E21}"/>
              </a:ext>
            </a:extLst>
          </p:cNvPr>
          <p:cNvSpPr>
            <a:spLocks noGrp="1"/>
          </p:cNvSpPr>
          <p:nvPr>
            <p:ph sz="half" idx="1"/>
          </p:nvPr>
        </p:nvSpPr>
        <p:spPr>
          <a:xfrm>
            <a:off x="838200" y="1429488"/>
            <a:ext cx="5690937" cy="4171212"/>
          </a:xfrm>
        </p:spPr>
        <p:txBody>
          <a:bodyPr vert="horz" lIns="91440" tIns="45720" rIns="91440" bIns="45720" rtlCol="0">
            <a:normAutofit/>
          </a:bodyPr>
          <a:lstStyle/>
          <a:p>
            <a:pPr marL="0" indent="0">
              <a:buNone/>
            </a:pPr>
            <a:r>
              <a:rPr lang="en-US" sz="1600" b="1" dirty="0">
                <a:solidFill>
                  <a:schemeClr val="bg1">
                    <a:alpha val="80000"/>
                  </a:schemeClr>
                </a:solidFill>
              </a:rPr>
              <a:t>Sharpe Ratio Analysis</a:t>
            </a:r>
          </a:p>
          <a:p>
            <a:pPr marL="0"/>
            <a:r>
              <a:rPr lang="en-US" sz="1600" dirty="0">
                <a:solidFill>
                  <a:schemeClr val="bg1">
                    <a:alpha val="80000"/>
                  </a:schemeClr>
                </a:solidFill>
              </a:rPr>
              <a:t> Identified funds delivering superior risk-adjusted returns</a:t>
            </a:r>
          </a:p>
          <a:p>
            <a:pPr marL="0" indent="0">
              <a:buNone/>
            </a:pPr>
            <a:r>
              <a:rPr lang="en-US" sz="1600" b="1" dirty="0">
                <a:solidFill>
                  <a:schemeClr val="bg1">
                    <a:alpha val="80000"/>
                  </a:schemeClr>
                </a:solidFill>
              </a:rPr>
              <a:t>Sortino Ratio</a:t>
            </a:r>
          </a:p>
          <a:p>
            <a:pPr marL="0"/>
            <a:r>
              <a:rPr lang="en-US" sz="1600" dirty="0">
                <a:solidFill>
                  <a:schemeClr val="bg1">
                    <a:alpha val="80000"/>
                  </a:schemeClr>
                </a:solidFill>
              </a:rPr>
              <a:t> Measured downside-risk-adjusted performance</a:t>
            </a:r>
          </a:p>
          <a:p>
            <a:pPr marL="0" indent="0">
              <a:buNone/>
            </a:pPr>
            <a:r>
              <a:rPr lang="en-US" sz="1600" b="1" dirty="0">
                <a:solidFill>
                  <a:schemeClr val="bg1">
                    <a:alpha val="80000"/>
                  </a:schemeClr>
                </a:solidFill>
              </a:rPr>
              <a:t>Result</a:t>
            </a:r>
          </a:p>
          <a:p>
            <a:r>
              <a:rPr lang="en-US" sz="1600" dirty="0">
                <a:solidFill>
                  <a:schemeClr val="bg1">
                    <a:alpha val="80000"/>
                  </a:schemeClr>
                </a:solidFill>
              </a:rPr>
              <a:t>Top-performing funds consistently achieved higher risk-adjusted returns.</a:t>
            </a:r>
          </a:p>
          <a:p>
            <a:pPr marL="0"/>
            <a:endParaRPr lang="en-US" sz="1500" dirty="0">
              <a:solidFill>
                <a:schemeClr val="bg1">
                  <a:alpha val="80000"/>
                </a:schemeClr>
              </a:solidFill>
            </a:endParaRPr>
          </a:p>
          <a:p>
            <a:pPr marL="0"/>
            <a:endParaRPr lang="en-US" sz="1500" dirty="0">
              <a:solidFill>
                <a:schemeClr val="bg1">
                  <a:alpha val="80000"/>
                </a:schemeClr>
              </a:solidFill>
            </a:endParaRPr>
          </a:p>
          <a:p>
            <a:endParaRPr lang="en-US" sz="1500" dirty="0">
              <a:solidFill>
                <a:schemeClr val="bg1">
                  <a:alpha val="80000"/>
                </a:schemeClr>
              </a:solidFill>
            </a:endParaRPr>
          </a:p>
        </p:txBody>
      </p:sp>
      <p:pic>
        <p:nvPicPr>
          <p:cNvPr id="7" name="Graphic 6" descr="Bar Graph with Upward Trend">
            <a:extLst>
              <a:ext uri="{FF2B5EF4-FFF2-40B4-BE49-F238E27FC236}">
                <a16:creationId xmlns:a16="http://schemas.microsoft.com/office/drawing/2014/main" id="{B83AD8A0-3ACC-7BDF-50D4-8351EA66C5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46487" y="1429488"/>
            <a:ext cx="3960000" cy="3960000"/>
          </a:xfrm>
          <a:prstGeom prst="rect">
            <a:avLst/>
          </a:prstGeom>
        </p:spPr>
      </p:pic>
    </p:spTree>
    <p:extLst>
      <p:ext uri="{BB962C8B-B14F-4D97-AF65-F5344CB8AC3E}">
        <p14:creationId xmlns:p14="http://schemas.microsoft.com/office/powerpoint/2010/main" val="1227843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B38085-1305-B32F-0733-BF70BFE04731}"/>
              </a:ext>
            </a:extLst>
          </p:cNvPr>
          <p:cNvSpPr>
            <a:spLocks noGrp="1"/>
          </p:cNvSpPr>
          <p:nvPr>
            <p:ph type="title"/>
          </p:nvPr>
        </p:nvSpPr>
        <p:spPr>
          <a:xfrm>
            <a:off x="838200" y="1641752"/>
            <a:ext cx="4391024" cy="1323439"/>
          </a:xfrm>
        </p:spPr>
        <p:txBody>
          <a:bodyPr vert="horz" lIns="91440" tIns="45720" rIns="91440" bIns="45720" rtlCol="0" anchor="t">
            <a:normAutofit/>
          </a:bodyPr>
          <a:lstStyle/>
          <a:p>
            <a:r>
              <a:rPr lang="en-US" sz="4000">
                <a:solidFill>
                  <a:schemeClr val="bg1"/>
                </a:solidFill>
              </a:rPr>
              <a:t>Advanced Risk Metrics</a:t>
            </a:r>
          </a:p>
        </p:txBody>
      </p:sp>
      <p:sp>
        <p:nvSpPr>
          <p:cNvPr id="3" name="Content Placeholder 2">
            <a:extLst>
              <a:ext uri="{FF2B5EF4-FFF2-40B4-BE49-F238E27FC236}">
                <a16:creationId xmlns:a16="http://schemas.microsoft.com/office/drawing/2014/main" id="{5E901166-D518-4AF6-C3CB-1D1BC23D5264}"/>
              </a:ext>
            </a:extLst>
          </p:cNvPr>
          <p:cNvSpPr>
            <a:spLocks noGrp="1"/>
          </p:cNvSpPr>
          <p:nvPr>
            <p:ph sz="half" idx="1"/>
          </p:nvPr>
        </p:nvSpPr>
        <p:spPr>
          <a:xfrm>
            <a:off x="838200" y="3146400"/>
            <a:ext cx="4391024" cy="2862288"/>
          </a:xfrm>
        </p:spPr>
        <p:txBody>
          <a:bodyPr vert="horz" lIns="91440" tIns="45720" rIns="91440" bIns="45720" rtlCol="0">
            <a:normAutofit/>
          </a:bodyPr>
          <a:lstStyle/>
          <a:p>
            <a:pPr marL="0" indent="0">
              <a:buNone/>
            </a:pPr>
            <a:r>
              <a:rPr lang="en-US" sz="2400" b="1" dirty="0">
                <a:solidFill>
                  <a:schemeClr val="bg1">
                    <a:alpha val="80000"/>
                  </a:schemeClr>
                </a:solidFill>
              </a:rPr>
              <a:t>Alpha &amp; Beta</a:t>
            </a:r>
          </a:p>
          <a:p>
            <a:pPr marL="0" indent="0">
              <a:buNone/>
            </a:pPr>
            <a:r>
              <a:rPr lang="en-US" sz="2400" dirty="0">
                <a:solidFill>
                  <a:schemeClr val="bg1">
                    <a:alpha val="80000"/>
                  </a:schemeClr>
                </a:solidFill>
              </a:rPr>
              <a:t>• Measured fund performance against benchmark indices</a:t>
            </a:r>
          </a:p>
          <a:p>
            <a:pPr marL="0" indent="0">
              <a:buNone/>
            </a:pPr>
            <a:r>
              <a:rPr lang="en-US" sz="2400" b="1" dirty="0">
                <a:solidFill>
                  <a:schemeClr val="bg1">
                    <a:alpha val="80000"/>
                  </a:schemeClr>
                </a:solidFill>
              </a:rPr>
              <a:t>Maximum Drawdown</a:t>
            </a:r>
          </a:p>
          <a:p>
            <a:pPr marL="0" indent="0">
              <a:buNone/>
            </a:pPr>
            <a:r>
              <a:rPr lang="en-US" sz="2400" dirty="0">
                <a:solidFill>
                  <a:schemeClr val="bg1">
                    <a:alpha val="80000"/>
                  </a:schemeClr>
                </a:solidFill>
              </a:rPr>
              <a:t>• Identified worst historical declines</a:t>
            </a:r>
          </a:p>
          <a:p>
            <a:endParaRPr lang="en-US" sz="2400" dirty="0">
              <a:solidFill>
                <a:schemeClr val="bg1">
                  <a:alpha val="80000"/>
                </a:schemeClr>
              </a:solidFill>
            </a:endParaRPr>
          </a:p>
        </p:txBody>
      </p:sp>
      <p:pic>
        <p:nvPicPr>
          <p:cNvPr id="6" name="Content Placeholder 5">
            <a:extLst>
              <a:ext uri="{FF2B5EF4-FFF2-40B4-BE49-F238E27FC236}">
                <a16:creationId xmlns:a16="http://schemas.microsoft.com/office/drawing/2014/main" id="{98C8B7AB-6BF5-1198-DDF4-18C0BCF28D8D}"/>
              </a:ext>
            </a:extLst>
          </p:cNvPr>
          <p:cNvPicPr>
            <a:picLocks noGrp="1" noChangeAspect="1"/>
          </p:cNvPicPr>
          <p:nvPr>
            <p:ph sz="half" idx="2"/>
          </p:nvPr>
        </p:nvPicPr>
        <p:blipFill>
          <a:blip r:embed="rId2"/>
          <a:srcRect r="36292" b="2"/>
          <a:stretch>
            <a:fillRect/>
          </a:stretch>
        </p:blipFill>
        <p:spPr>
          <a:xfrm>
            <a:off x="6096000" y="841375"/>
            <a:ext cx="5260975" cy="4645025"/>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effectLst>
            <a:outerShdw blurRad="381000" dist="152400" dir="5400000" algn="t" rotWithShape="0">
              <a:prstClr val="black">
                <a:alpha val="10000"/>
              </a:prstClr>
            </a:outerShdw>
          </a:effectLst>
        </p:spPr>
      </p:pic>
      <p:grpSp>
        <p:nvGrpSpPr>
          <p:cNvPr id="22" name="Group 21">
            <a:extLst>
              <a:ext uri="{FF2B5EF4-FFF2-40B4-BE49-F238E27FC236}">
                <a16:creationId xmlns:a16="http://schemas.microsoft.com/office/drawing/2014/main" id="{23705FF7-CAB4-430F-A07B-AF2245F17F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14" name="Freeform: Shape 13">
              <a:extLst>
                <a:ext uri="{FF2B5EF4-FFF2-40B4-BE49-F238E27FC236}">
                  <a16:creationId xmlns:a16="http://schemas.microsoft.com/office/drawing/2014/main" id="{6BFFE2ED-DBB9-4090-905D-1939650FC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4D1EC16-E672-4366-A091-73675BE54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596671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6A3DE21C-8460-F333-808B-C831DC927E86}"/>
              </a:ext>
            </a:extLst>
          </p:cNvPr>
          <p:cNvSpPr>
            <a:spLocks noGrp="1"/>
          </p:cNvSpPr>
          <p:nvPr>
            <p:ph sz="half" idx="1"/>
          </p:nvPr>
        </p:nvSpPr>
        <p:spPr>
          <a:xfrm>
            <a:off x="838200" y="1235241"/>
            <a:ext cx="5096934" cy="3834064"/>
          </a:xfrm>
        </p:spPr>
        <p:txBody>
          <a:bodyPr>
            <a:normAutofit/>
          </a:bodyPr>
          <a:lstStyle/>
          <a:p>
            <a:pPr marL="0" indent="0">
              <a:buNone/>
            </a:pPr>
            <a:r>
              <a:rPr lang="en-IN" sz="2000" b="1" dirty="0"/>
              <a:t>Fund Scorecard</a:t>
            </a:r>
          </a:p>
          <a:p>
            <a:r>
              <a:rPr lang="en-IN" sz="2000" dirty="0"/>
              <a:t>Composite ranking based on:</a:t>
            </a:r>
          </a:p>
          <a:p>
            <a:pPr marL="0" indent="0">
              <a:buNone/>
            </a:pPr>
            <a:r>
              <a:rPr lang="en-IN" sz="2000" dirty="0"/>
              <a:t>• 3-Year Return</a:t>
            </a:r>
          </a:p>
          <a:p>
            <a:pPr marL="0" indent="0">
              <a:buNone/>
            </a:pPr>
            <a:r>
              <a:rPr lang="en-IN" sz="2000" dirty="0"/>
              <a:t>• Sharpe Ratio</a:t>
            </a:r>
          </a:p>
          <a:p>
            <a:pPr marL="0" indent="0">
              <a:buNone/>
            </a:pPr>
            <a:r>
              <a:rPr lang="en-IN" sz="2000" dirty="0"/>
              <a:t>• Alpha</a:t>
            </a:r>
          </a:p>
          <a:p>
            <a:pPr marL="0" indent="0">
              <a:buNone/>
            </a:pPr>
            <a:r>
              <a:rPr lang="en-IN" sz="2000" dirty="0"/>
              <a:t>• Expense Ratio</a:t>
            </a:r>
          </a:p>
          <a:p>
            <a:pPr marL="0" indent="0">
              <a:buNone/>
            </a:pPr>
            <a:r>
              <a:rPr lang="en-IN" sz="2000" dirty="0"/>
              <a:t>• Maximum Drawdown</a:t>
            </a:r>
          </a:p>
          <a:p>
            <a:endParaRPr lang="en-IN" sz="2000" dirty="0"/>
          </a:p>
        </p:txBody>
      </p:sp>
    </p:spTree>
    <p:extLst>
      <p:ext uri="{BB962C8B-B14F-4D97-AF65-F5344CB8AC3E}">
        <p14:creationId xmlns:p14="http://schemas.microsoft.com/office/powerpoint/2010/main" val="3672858839"/>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7B2AD904-3F90-4C5C-23E0-BFC0AF7D5907}"/>
              </a:ext>
            </a:extLst>
          </p:cNvPr>
          <p:cNvSpPr>
            <a:spLocks noGrp="1"/>
          </p:cNvSpPr>
          <p:nvPr>
            <p:ph type="title"/>
          </p:nvPr>
        </p:nvSpPr>
        <p:spPr>
          <a:xfrm>
            <a:off x="838200" y="448721"/>
            <a:ext cx="4707671" cy="1225650"/>
          </a:xfrm>
        </p:spPr>
        <p:txBody>
          <a:bodyPr vert="horz" lIns="91440" tIns="45720" rIns="91440" bIns="45720" rtlCol="0" anchor="b">
            <a:normAutofit/>
          </a:bodyPr>
          <a:lstStyle/>
          <a:p>
            <a:r>
              <a:rPr lang="en-US" sz="3800" kern="1200">
                <a:solidFill>
                  <a:schemeClr val="bg1"/>
                </a:solidFill>
                <a:latin typeface="+mj-lt"/>
                <a:ea typeface="+mj-ea"/>
                <a:cs typeface="+mj-cs"/>
              </a:rPr>
              <a:t>Dashboard Screenshots</a:t>
            </a:r>
          </a:p>
        </p:txBody>
      </p:sp>
      <p:cxnSp>
        <p:nvCxnSpPr>
          <p:cNvPr id="22" name="Straight Connector 2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DE873FD-5AF3-13ED-7FF4-3AF3777A278C}"/>
              </a:ext>
            </a:extLst>
          </p:cNvPr>
          <p:cNvSpPr>
            <a:spLocks noGrp="1"/>
          </p:cNvSpPr>
          <p:nvPr>
            <p:ph sz="half" idx="1"/>
          </p:nvPr>
        </p:nvSpPr>
        <p:spPr>
          <a:xfrm>
            <a:off x="897769" y="1909192"/>
            <a:ext cx="4586513" cy="3647710"/>
          </a:xfrm>
        </p:spPr>
        <p:txBody>
          <a:bodyPr vert="horz" lIns="91440" tIns="45720" rIns="91440" bIns="45720" rtlCol="0">
            <a:normAutofit/>
          </a:bodyPr>
          <a:lstStyle/>
          <a:p>
            <a:pPr marL="0" indent="0">
              <a:buNone/>
            </a:pPr>
            <a:r>
              <a:rPr lang="en-US" sz="2000" b="1" dirty="0">
                <a:solidFill>
                  <a:schemeClr val="bg1"/>
                </a:solidFill>
              </a:rPr>
              <a:t>Power BI Dashboard</a:t>
            </a:r>
          </a:p>
          <a:p>
            <a:pPr marL="0" indent="0">
              <a:buNone/>
            </a:pPr>
            <a:r>
              <a:rPr lang="en-US" sz="2000" b="1" dirty="0">
                <a:solidFill>
                  <a:schemeClr val="bg1"/>
                </a:solidFill>
              </a:rPr>
              <a:t>Industry Overview</a:t>
            </a:r>
          </a:p>
          <a:p>
            <a:pPr marL="0" indent="0">
              <a:buNone/>
            </a:pPr>
            <a:r>
              <a:rPr lang="en-US" sz="2000" dirty="0">
                <a:solidFill>
                  <a:schemeClr val="bg1"/>
                </a:solidFill>
              </a:rPr>
              <a:t>Features:</a:t>
            </a:r>
          </a:p>
          <a:p>
            <a:pPr marL="0"/>
            <a:r>
              <a:rPr lang="en-US" sz="2000" dirty="0">
                <a:solidFill>
                  <a:schemeClr val="bg1"/>
                </a:solidFill>
              </a:rPr>
              <a:t>Total AUM</a:t>
            </a:r>
          </a:p>
          <a:p>
            <a:pPr marL="0" indent="0">
              <a:buNone/>
            </a:pPr>
            <a:r>
              <a:rPr lang="en-US" sz="2000" dirty="0">
                <a:solidFill>
                  <a:schemeClr val="bg1"/>
                </a:solidFill>
              </a:rPr>
              <a:t>• Total SIP Inflows</a:t>
            </a:r>
          </a:p>
          <a:p>
            <a:pPr marL="0" indent="0">
              <a:buNone/>
            </a:pPr>
            <a:r>
              <a:rPr lang="en-US" sz="2000" dirty="0">
                <a:solidFill>
                  <a:schemeClr val="bg1"/>
                </a:solidFill>
              </a:rPr>
              <a:t>• Folio Count</a:t>
            </a:r>
          </a:p>
          <a:p>
            <a:pPr marL="0" indent="0">
              <a:buNone/>
            </a:pPr>
            <a:r>
              <a:rPr lang="en-US" sz="2000" dirty="0">
                <a:solidFill>
                  <a:schemeClr val="bg1"/>
                </a:solidFill>
              </a:rPr>
              <a:t>• Scheme Count</a:t>
            </a:r>
          </a:p>
          <a:p>
            <a:endParaRPr lang="en-US" sz="2000" dirty="0">
              <a:solidFill>
                <a:schemeClr val="bg1"/>
              </a:solidFill>
            </a:endParaRPr>
          </a:p>
        </p:txBody>
      </p:sp>
      <p:cxnSp>
        <p:nvCxnSpPr>
          <p:cNvPr id="15" name="Straight Connector 14">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 name="Content Placeholder 5">
            <a:extLst>
              <a:ext uri="{FF2B5EF4-FFF2-40B4-BE49-F238E27FC236}">
                <a16:creationId xmlns:a16="http://schemas.microsoft.com/office/drawing/2014/main" id="{83F5CDB5-C79F-BAA0-8538-80DFA982388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25453" y="1877782"/>
            <a:ext cx="5666547" cy="3102435"/>
          </a:xfrm>
          <a:prstGeom prst="rect">
            <a:avLst/>
          </a:prstGeom>
        </p:spPr>
      </p:pic>
    </p:spTree>
    <p:extLst>
      <p:ext uri="{BB962C8B-B14F-4D97-AF65-F5344CB8AC3E}">
        <p14:creationId xmlns:p14="http://schemas.microsoft.com/office/powerpoint/2010/main" val="912063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6" name="Content Placeholder 5">
            <a:extLst>
              <a:ext uri="{FF2B5EF4-FFF2-40B4-BE49-F238E27FC236}">
                <a16:creationId xmlns:a16="http://schemas.microsoft.com/office/drawing/2014/main" id="{6A18C928-FB57-59BE-3008-BA8A07898E1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346" y="1828201"/>
            <a:ext cx="5666547" cy="3201598"/>
          </a:xfrm>
          <a:prstGeom prst="rect">
            <a:avLst/>
          </a:prstGeom>
        </p:spPr>
      </p:pic>
      <p:cxnSp>
        <p:nvCxnSpPr>
          <p:cNvPr id="13" name="Straight Connector 12">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7D8FAE5-2870-4159-97C2-577D39DC0CA3}"/>
              </a:ext>
            </a:extLst>
          </p:cNvPr>
          <p:cNvSpPr>
            <a:spLocks noGrp="1"/>
          </p:cNvSpPr>
          <p:nvPr>
            <p:ph sz="half" idx="1"/>
          </p:nvPr>
        </p:nvSpPr>
        <p:spPr>
          <a:xfrm>
            <a:off x="6527800" y="1909192"/>
            <a:ext cx="4713997" cy="3647710"/>
          </a:xfrm>
        </p:spPr>
        <p:txBody>
          <a:bodyPr vert="horz" lIns="91440" tIns="45720" rIns="91440" bIns="45720" rtlCol="0">
            <a:normAutofit/>
          </a:bodyPr>
          <a:lstStyle/>
          <a:p>
            <a:pPr marL="0" indent="0">
              <a:buNone/>
            </a:pPr>
            <a:r>
              <a:rPr lang="en-US" sz="2000" b="1" dirty="0">
                <a:solidFill>
                  <a:schemeClr val="bg1"/>
                </a:solidFill>
              </a:rPr>
              <a:t>Fund Performance</a:t>
            </a:r>
          </a:p>
          <a:p>
            <a:pPr marL="0" indent="0">
              <a:buNone/>
            </a:pPr>
            <a:r>
              <a:rPr lang="en-US" sz="2000" dirty="0">
                <a:solidFill>
                  <a:schemeClr val="bg1"/>
                </a:solidFill>
              </a:rPr>
              <a:t>Features:</a:t>
            </a:r>
          </a:p>
          <a:p>
            <a:pPr marL="0" indent="0">
              <a:buNone/>
            </a:pPr>
            <a:r>
              <a:rPr lang="en-US" sz="2000" dirty="0">
                <a:solidFill>
                  <a:schemeClr val="bg1"/>
                </a:solidFill>
              </a:rPr>
              <a:t>• Return vs Risk Analysis</a:t>
            </a:r>
          </a:p>
          <a:p>
            <a:pPr marL="0" indent="0">
              <a:buNone/>
            </a:pPr>
            <a:r>
              <a:rPr lang="en-US" sz="2000" dirty="0">
                <a:solidFill>
                  <a:schemeClr val="bg1"/>
                </a:solidFill>
              </a:rPr>
              <a:t>• Benchmark Comparison</a:t>
            </a:r>
          </a:p>
          <a:p>
            <a:pPr marL="0" indent="0">
              <a:buNone/>
            </a:pPr>
            <a:r>
              <a:rPr lang="en-US" sz="2000" dirty="0">
                <a:solidFill>
                  <a:schemeClr val="bg1"/>
                </a:solidFill>
              </a:rPr>
              <a:t>• Fund Scorecard</a:t>
            </a:r>
          </a:p>
          <a:p>
            <a:endParaRPr lang="en-US" sz="2000" dirty="0">
              <a:solidFill>
                <a:schemeClr val="bg1"/>
              </a:solidFill>
            </a:endParaRPr>
          </a:p>
        </p:txBody>
      </p:sp>
      <p:cxnSp>
        <p:nvCxnSpPr>
          <p:cNvPr id="15" name="Straight Connector 14">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7800"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6781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3" name="Straight Connector 22">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C636A8EF-B6B9-0F37-65B0-84582134983B}"/>
              </a:ext>
            </a:extLst>
          </p:cNvPr>
          <p:cNvSpPr>
            <a:spLocks noGrp="1"/>
          </p:cNvSpPr>
          <p:nvPr>
            <p:ph sz="half" idx="1"/>
          </p:nvPr>
        </p:nvSpPr>
        <p:spPr>
          <a:xfrm>
            <a:off x="1295400" y="2288833"/>
            <a:ext cx="4800600" cy="3711571"/>
          </a:xfrm>
        </p:spPr>
        <p:txBody>
          <a:bodyPr vert="horz" lIns="91440" tIns="45720" rIns="91440" bIns="45720" rtlCol="0">
            <a:normAutofit/>
          </a:bodyPr>
          <a:lstStyle/>
          <a:p>
            <a:pPr marL="0" indent="0">
              <a:buNone/>
            </a:pPr>
            <a:r>
              <a:rPr lang="en-US" sz="1700" b="1" dirty="0">
                <a:solidFill>
                  <a:schemeClr val="bg1"/>
                </a:solidFill>
              </a:rPr>
              <a:t>Investor Analytics</a:t>
            </a:r>
          </a:p>
          <a:p>
            <a:pPr marL="0"/>
            <a:r>
              <a:rPr lang="en-US" sz="1700" dirty="0">
                <a:solidFill>
                  <a:schemeClr val="bg1"/>
                </a:solidFill>
              </a:rPr>
              <a:t>Features:</a:t>
            </a:r>
          </a:p>
          <a:p>
            <a:pPr marL="0" indent="0">
              <a:buNone/>
            </a:pPr>
            <a:r>
              <a:rPr lang="en-US" sz="1700" dirty="0">
                <a:solidFill>
                  <a:schemeClr val="bg1"/>
                </a:solidFill>
              </a:rPr>
              <a:t>• Investor Demographics</a:t>
            </a:r>
          </a:p>
          <a:p>
            <a:pPr marL="0" indent="0">
              <a:buNone/>
            </a:pPr>
            <a:r>
              <a:rPr lang="en-US" sz="1700" dirty="0">
                <a:solidFill>
                  <a:schemeClr val="bg1"/>
                </a:solidFill>
              </a:rPr>
              <a:t>• Transaction Analysis</a:t>
            </a:r>
          </a:p>
          <a:p>
            <a:pPr marL="0" indent="0">
              <a:buNone/>
            </a:pPr>
            <a:r>
              <a:rPr lang="en-US" sz="1700" dirty="0">
                <a:solidFill>
                  <a:schemeClr val="bg1"/>
                </a:solidFill>
              </a:rPr>
              <a:t>• Geographic Distribution</a:t>
            </a:r>
          </a:p>
          <a:p>
            <a:pPr marL="0" indent="0">
              <a:buNone/>
            </a:pPr>
            <a:r>
              <a:rPr lang="en-US" sz="1700" b="1" dirty="0">
                <a:solidFill>
                  <a:schemeClr val="bg1"/>
                </a:solidFill>
              </a:rPr>
              <a:t>SIP &amp; Market Trends</a:t>
            </a:r>
          </a:p>
          <a:p>
            <a:r>
              <a:rPr lang="en-US" sz="1700" dirty="0">
                <a:solidFill>
                  <a:schemeClr val="bg1"/>
                </a:solidFill>
              </a:rPr>
              <a:t>Features:</a:t>
            </a:r>
          </a:p>
          <a:p>
            <a:pPr marL="0" indent="0">
              <a:buNone/>
            </a:pPr>
            <a:r>
              <a:rPr lang="en-US" sz="1700" dirty="0">
                <a:solidFill>
                  <a:schemeClr val="bg1"/>
                </a:solidFill>
              </a:rPr>
              <a:t>• SIP Inflows</a:t>
            </a:r>
          </a:p>
          <a:p>
            <a:pPr marL="0" indent="0">
              <a:buNone/>
            </a:pPr>
            <a:r>
              <a:rPr lang="en-US" sz="1700" dirty="0">
                <a:solidFill>
                  <a:schemeClr val="bg1"/>
                </a:solidFill>
              </a:rPr>
              <a:t>• Market Index Trends</a:t>
            </a:r>
          </a:p>
          <a:p>
            <a:pPr marL="0" indent="0">
              <a:buNone/>
            </a:pPr>
            <a:r>
              <a:rPr lang="en-US" sz="1700" dirty="0">
                <a:solidFill>
                  <a:schemeClr val="bg1"/>
                </a:solidFill>
              </a:rPr>
              <a:t>• Category-wise Analysis</a:t>
            </a:r>
          </a:p>
          <a:p>
            <a:endParaRPr lang="en-US" sz="1700" dirty="0">
              <a:solidFill>
                <a:schemeClr val="bg1"/>
              </a:solidFill>
            </a:endParaRPr>
          </a:p>
        </p:txBody>
      </p:sp>
      <p:pic>
        <p:nvPicPr>
          <p:cNvPr id="7" name="Content Placeholder 6">
            <a:extLst>
              <a:ext uri="{FF2B5EF4-FFF2-40B4-BE49-F238E27FC236}">
                <a16:creationId xmlns:a16="http://schemas.microsoft.com/office/drawing/2014/main" id="{EBE94FC4-8534-CB21-A245-E0B74DAAD5F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45193" y="716987"/>
            <a:ext cx="3588640" cy="2090383"/>
          </a:xfrm>
          <a:prstGeom prst="rect">
            <a:avLst/>
          </a:prstGeom>
        </p:spPr>
      </p:pic>
      <p:sp>
        <p:nvSpPr>
          <p:cNvPr id="24" name="Rectangle 23">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AE25965-CBB7-2BC3-04F7-2D487F7F4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8661" y="4131171"/>
            <a:ext cx="3588640" cy="1982723"/>
          </a:xfrm>
          <a:prstGeom prst="rect">
            <a:avLst/>
          </a:prstGeom>
        </p:spPr>
      </p:pic>
      <p:sp>
        <p:nvSpPr>
          <p:cNvPr id="25" name="Rectangle 24">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975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Title 4">
            <a:extLst>
              <a:ext uri="{FF2B5EF4-FFF2-40B4-BE49-F238E27FC236}">
                <a16:creationId xmlns:a16="http://schemas.microsoft.com/office/drawing/2014/main" id="{203AC3A6-3653-1919-DA5E-BE5CF05ADAD6}"/>
              </a:ext>
            </a:extLst>
          </p:cNvPr>
          <p:cNvSpPr>
            <a:spLocks noGrp="1"/>
          </p:cNvSpPr>
          <p:nvPr>
            <p:ph type="title"/>
          </p:nvPr>
        </p:nvSpPr>
        <p:spPr>
          <a:xfrm>
            <a:off x="838200" y="669925"/>
            <a:ext cx="4508946" cy="1325563"/>
          </a:xfrm>
        </p:spPr>
        <p:txBody>
          <a:bodyPr anchor="b">
            <a:normAutofit/>
          </a:bodyPr>
          <a:lstStyle/>
          <a:p>
            <a:pPr algn="r"/>
            <a:r>
              <a:rPr lang="en-IN">
                <a:solidFill>
                  <a:schemeClr val="bg1"/>
                </a:solidFill>
              </a:rPr>
              <a:t>Key Findings &amp; Recommendations</a:t>
            </a:r>
          </a:p>
        </p:txBody>
      </p:sp>
      <p:cxnSp>
        <p:nvCxnSpPr>
          <p:cNvPr id="13" name="Straight Connector 12">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27A68F1A-2EA8-C1AF-F061-E3F09CDB0236}"/>
              </a:ext>
            </a:extLst>
          </p:cNvPr>
          <p:cNvSpPr>
            <a:spLocks noGrp="1"/>
          </p:cNvSpPr>
          <p:nvPr>
            <p:ph idx="1"/>
          </p:nvPr>
        </p:nvSpPr>
        <p:spPr>
          <a:xfrm>
            <a:off x="1392667" y="2398957"/>
            <a:ext cx="9406666" cy="3526144"/>
          </a:xfrm>
        </p:spPr>
        <p:txBody>
          <a:bodyPr>
            <a:normAutofit/>
          </a:bodyPr>
          <a:lstStyle/>
          <a:p>
            <a:r>
              <a:rPr lang="en-IN" sz="2000" b="1">
                <a:solidFill>
                  <a:schemeClr val="bg1"/>
                </a:solidFill>
              </a:rPr>
              <a:t>Key Findings</a:t>
            </a:r>
          </a:p>
          <a:p>
            <a:r>
              <a:rPr lang="en-IN" sz="2000">
                <a:solidFill>
                  <a:schemeClr val="bg1"/>
                </a:solidFill>
              </a:rPr>
              <a:t>SIP inflows reached record highs during the study period.</a:t>
            </a:r>
          </a:p>
          <a:p>
            <a:r>
              <a:rPr lang="en-IN" sz="2000">
                <a:solidFill>
                  <a:schemeClr val="bg1"/>
                </a:solidFill>
              </a:rPr>
              <a:t>Equity funds dominated investor preferences.</a:t>
            </a:r>
          </a:p>
          <a:p>
            <a:r>
              <a:rPr lang="en-IN" sz="2000">
                <a:solidFill>
                  <a:schemeClr val="bg1"/>
                </a:solidFill>
              </a:rPr>
              <a:t>High-Sharpe funds consistently outperformed peers.</a:t>
            </a:r>
          </a:p>
          <a:p>
            <a:r>
              <a:rPr lang="en-IN" sz="2000">
                <a:solidFill>
                  <a:schemeClr val="bg1"/>
                </a:solidFill>
              </a:rPr>
              <a:t>Several investors showed SIP discontinuity risk.</a:t>
            </a:r>
          </a:p>
          <a:p>
            <a:r>
              <a:rPr lang="en-IN" sz="2000">
                <a:solidFill>
                  <a:schemeClr val="bg1"/>
                </a:solidFill>
              </a:rPr>
              <a:t>Portfolio concentration varied significantly across funds.</a:t>
            </a:r>
          </a:p>
          <a:p>
            <a:endParaRPr lang="en-IN" sz="2000">
              <a:solidFill>
                <a:schemeClr val="bg1"/>
              </a:solidFill>
            </a:endParaRPr>
          </a:p>
        </p:txBody>
      </p:sp>
      <p:sp>
        <p:nvSpPr>
          <p:cNvPr id="15" name="Rectangle 14">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3890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A25E577-3D3C-BE98-B416-FC6165448C6D}"/>
              </a:ext>
            </a:extLst>
          </p:cNvPr>
          <p:cNvSpPr>
            <a:spLocks noGrp="1"/>
          </p:cNvSpPr>
          <p:nvPr>
            <p:ph type="title"/>
          </p:nvPr>
        </p:nvSpPr>
        <p:spPr>
          <a:xfrm>
            <a:off x="838200" y="669925"/>
            <a:ext cx="4508946" cy="1325563"/>
          </a:xfrm>
        </p:spPr>
        <p:txBody>
          <a:bodyPr anchor="b">
            <a:normAutofit/>
          </a:bodyPr>
          <a:lstStyle/>
          <a:p>
            <a:pPr algn="r"/>
            <a:r>
              <a:rPr lang="en-IN">
                <a:solidFill>
                  <a:schemeClr val="bg1"/>
                </a:solidFill>
              </a:rPr>
              <a:t>Recommendations</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6A7D1F9-A409-8AEF-9596-6D5ED466CBA5}"/>
              </a:ext>
            </a:extLst>
          </p:cNvPr>
          <p:cNvSpPr>
            <a:spLocks noGrp="1"/>
          </p:cNvSpPr>
          <p:nvPr>
            <p:ph idx="1"/>
          </p:nvPr>
        </p:nvSpPr>
        <p:spPr>
          <a:xfrm>
            <a:off x="1392667" y="2398957"/>
            <a:ext cx="9406666" cy="3526144"/>
          </a:xfrm>
        </p:spPr>
        <p:txBody>
          <a:bodyPr>
            <a:normAutofit/>
          </a:bodyPr>
          <a:lstStyle/>
          <a:p>
            <a:pPr marL="0" indent="0">
              <a:buNone/>
            </a:pPr>
            <a:r>
              <a:rPr lang="en-IN" sz="2000" dirty="0">
                <a:solidFill>
                  <a:schemeClr val="bg1"/>
                </a:solidFill>
              </a:rPr>
              <a:t>• Expand dataset coverage</a:t>
            </a:r>
          </a:p>
          <a:p>
            <a:pPr marL="0" indent="0">
              <a:buNone/>
            </a:pPr>
            <a:r>
              <a:rPr lang="en-IN" sz="2000" dirty="0">
                <a:solidFill>
                  <a:schemeClr val="bg1"/>
                </a:solidFill>
              </a:rPr>
              <a:t>• Introduce machine learning models</a:t>
            </a:r>
          </a:p>
          <a:p>
            <a:pPr marL="0" indent="0">
              <a:buNone/>
            </a:pPr>
            <a:r>
              <a:rPr lang="en-IN" sz="2000" dirty="0">
                <a:solidFill>
                  <a:schemeClr val="bg1"/>
                </a:solidFill>
              </a:rPr>
              <a:t>• Deploy dashboard to cloud platforms</a:t>
            </a:r>
          </a:p>
          <a:p>
            <a:pPr marL="0" indent="0">
              <a:buNone/>
            </a:pPr>
            <a:r>
              <a:rPr lang="en-IN" sz="2000" dirty="0">
                <a:solidFill>
                  <a:schemeClr val="bg1"/>
                </a:solidFill>
              </a:rPr>
              <a:t>• Enhance recommendation engine with personalization</a:t>
            </a:r>
          </a:p>
          <a:p>
            <a:endParaRPr lang="en-IN" sz="20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2424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0" name="Group 9">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4" name="Freeform: Shape 13">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1" name="Group 10">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2" name="Freeform: Shape 11">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7D35897D-A89B-85A7-1173-B8B91A43D716}"/>
              </a:ext>
            </a:extLst>
          </p:cNvPr>
          <p:cNvSpPr>
            <a:spLocks noGrp="1"/>
          </p:cNvSpPr>
          <p:nvPr>
            <p:ph type="ctrTitle"/>
          </p:nvPr>
        </p:nvSpPr>
        <p:spPr>
          <a:xfrm>
            <a:off x="838199" y="1120676"/>
            <a:ext cx="7021513" cy="2308324"/>
          </a:xfrm>
        </p:spPr>
        <p:txBody>
          <a:bodyPr>
            <a:normAutofit/>
          </a:bodyPr>
          <a:lstStyle/>
          <a:p>
            <a:pPr algn="l"/>
            <a:r>
              <a:rPr lang="en-IN" sz="7200">
                <a:solidFill>
                  <a:schemeClr val="bg1"/>
                </a:solidFill>
              </a:rPr>
              <a:t>THANK YOU</a:t>
            </a:r>
          </a:p>
        </p:txBody>
      </p:sp>
    </p:spTree>
    <p:extLst>
      <p:ext uri="{BB962C8B-B14F-4D97-AF65-F5344CB8AC3E}">
        <p14:creationId xmlns:p14="http://schemas.microsoft.com/office/powerpoint/2010/main" val="4092288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517</Words>
  <Application>Microsoft Office PowerPoint</Application>
  <PresentationFormat>Widescreen</PresentationFormat>
  <Paragraphs>115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Bluestock Mutual Fund Analysis Capstone Project</vt:lpstr>
      <vt:lpstr>Problem Statement &amp; Objectives </vt:lpstr>
      <vt:lpstr>Data Sources</vt:lpstr>
      <vt:lpstr>PowerPoint Presentation</vt:lpstr>
      <vt:lpstr>System Architecture</vt:lpstr>
      <vt:lpstr>EDA Highlights </vt:lpstr>
      <vt:lpstr>PowerPoint Presentation</vt:lpstr>
      <vt:lpstr>PowerPoint Presentation</vt:lpstr>
      <vt:lpstr>PowerPoint Presentation</vt:lpstr>
      <vt:lpstr>Performance Analytics </vt:lpstr>
      <vt:lpstr>PowerPoint Presentation</vt:lpstr>
      <vt:lpstr>Advanced Risk Metrics</vt:lpstr>
      <vt:lpstr>PowerPoint Presentation</vt:lpstr>
      <vt:lpstr>Dashboard Screenshots</vt:lpstr>
      <vt:lpstr>PowerPoint Presentation</vt:lpstr>
      <vt:lpstr>PowerPoint Presentation</vt:lpstr>
      <vt:lpstr>Key Findings &amp; Recommendations</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Deepthisree Kotagiri</dc:creator>
  <cp:lastModifiedBy>Deepthisree Kotagiri</cp:lastModifiedBy>
  <cp:revision>2</cp:revision>
  <dcterms:created xsi:type="dcterms:W3CDTF">2026-06-13T15:08:10Z</dcterms:created>
  <dcterms:modified xsi:type="dcterms:W3CDTF">2026-06-13T15:58:25Z</dcterms:modified>
</cp:coreProperties>
</file>